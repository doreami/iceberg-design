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46304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湖表</a:t>
            </a:r>
            <a:r>
              <a:rPr lang="en-US" sz="26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索引：湖仓架构独立索引，与计算引擎解耦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98480" y="219456"/>
            <a:ext cx="1143000" cy="329184"/>
          </a:xfrm>
          <a:prstGeom prst="roundRect">
            <a:avLst>
              <a:gd name="adj" fmla="val 55556"/>
            </a:avLst>
          </a:prstGeom>
          <a:solidFill>
            <a:srgbClr val="1C729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Index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694944"/>
            <a:ext cx="11384280" cy="457200"/>
          </a:xfrm>
          <a:prstGeom prst="rect">
            <a:avLst/>
          </a:prstGeom>
          <a:solidFill>
            <a:srgbClr val="EFF5FA"/>
          </a:solidFill>
          <a:ln w="12700">
            <a:solidFill>
              <a:srgbClr val="C7D9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73152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当前进展：</a:t>
            </a:r>
            <a:r>
              <a:rPr lang="en-US" sz="110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index + Iceberg 共同构建索引组件，与计算引擎解耦；已实现 B-Tree 标量、IVFPQ / IVF-Flat 向量索引，支持索引分区、插件接入、增量构建、索引管理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25296"/>
            <a:ext cx="5029200" cy="4535424"/>
          </a:xfrm>
          <a:prstGeom prst="rect">
            <a:avLst/>
          </a:prstGeom>
          <a:solidFill>
            <a:srgbClr val="EFF5FA"/>
          </a:solidFill>
          <a:ln w="12700">
            <a:solidFill>
              <a:srgbClr val="C7D9E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23560" y="1225296"/>
            <a:ext cx="6172200" cy="4535424"/>
          </a:xfrm>
          <a:prstGeom prst="rect">
            <a:avLst/>
          </a:prstGeom>
          <a:solidFill>
            <a:srgbClr val="EFF5FA"/>
          </a:solidFill>
          <a:ln w="12700">
            <a:solidFill>
              <a:srgbClr val="C7D9E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1389888"/>
            <a:ext cx="47548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9961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44475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计算引擎层（索引调用方）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0" y="14813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A6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多引擎可接入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005840" y="1728216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05840" y="1728216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GV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554480" y="1728216"/>
            <a:ext cx="62179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554480" y="172821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249424" y="1728216"/>
            <a:ext cx="62179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249424" y="172821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Flink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44368" y="1746504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等引擎经公开 ABI 接入索引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816352" y="1993392"/>
            <a:ext cx="219456" cy="91440"/>
          </a:xfrm>
          <a:prstGeom prst="downArrow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77240" y="2103120"/>
            <a:ext cx="4297680" cy="420624"/>
          </a:xfrm>
          <a:prstGeom prst="rect">
            <a:avLst/>
          </a:prstGeom>
          <a:solidFill>
            <a:srgbClr val="FBF3E4"/>
          </a:solidFill>
          <a:ln w="16510">
            <a:solidFill>
              <a:srgbClr val="E8A33D"/>
            </a:solidFill>
            <a:prstDash val="dash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68680" y="2139696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6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公开稳定 C ABI（iceberg-index-abi v3）</a:t>
            </a:r>
            <a:endParaRPr lang="en-US" sz="9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6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索引经 by-metadata 发现与检索 · 与引擎无关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816352" y="2542032"/>
            <a:ext cx="219456" cy="91440"/>
          </a:xfrm>
          <a:prstGeom prst="downArrow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2651760"/>
            <a:ext cx="4754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614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05840" y="270662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索引引擎 · 独立索引组件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85800" y="2999232"/>
            <a:ext cx="2176272" cy="420624"/>
          </a:xfrm>
          <a:prstGeom prst="rect">
            <a:avLst/>
          </a:prstGeom>
          <a:solidFill>
            <a:srgbClr val="EDF4F9"/>
          </a:solidFill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786384" y="30266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B-Tree 标量索引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86384" y="3200400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等值 / 范围 / IN / 复合键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2990088" y="2999232"/>
            <a:ext cx="2176272" cy="420624"/>
          </a:xfrm>
          <a:prstGeom prst="rect">
            <a:avLst/>
          </a:prstGeom>
          <a:solidFill>
            <a:srgbClr val="EDF4F9"/>
          </a:solidFill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3090672" y="30266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IVFPQ / IVF-Flat 向量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090672" y="3200400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ANN Top-K · L2 距离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85800" y="3547872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构建：全量 / 增量 / 并行——Worker 无状态，可跨进程横向扩展；异步构建不阻塞查询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816352" y="3950208"/>
            <a:ext cx="219456" cy="91440"/>
          </a:xfrm>
          <a:prstGeom prst="downArrow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48640" y="4059936"/>
            <a:ext cx="4754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69664"/>
            <a:ext cx="219456" cy="21945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005840" y="41148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Iceberg 湖仓层 · 索引挂载元数据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1005840" y="4425696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metadata.json → Registry Head v2（标准 Puffin）→ Segment 索引文件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1005840" y="4626864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Parquet 数据文件零改动 · CAS 原子发布 · 快照级版本对齐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685800" y="4846320"/>
            <a:ext cx="4480560" cy="237744"/>
          </a:xfrm>
          <a:prstGeom prst="rect">
            <a:avLst/>
          </a:prstGeom>
          <a:solidFill>
            <a:srgbClr val="EDF4F9"/>
          </a:solidFill>
        </p:spPr>
        <p:txBody>
          <a:bodyPr/>
          <a:p/>
        </p:txBody>
      </p:sp>
      <p:sp>
        <p:nvSpPr>
          <p:cNvPr id="41" name="Text 36"/>
          <p:cNvSpPr/>
          <p:nvPr/>
        </p:nvSpPr>
        <p:spPr>
          <a:xfrm>
            <a:off x="786384" y="4846320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对象存储：S3 / MinIO / 本地 · 多引擎共享同一份数据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1005840" y="5157216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构建与查询均通过公开 ABI 与索引交互，索引组件不依赖任何具体引擎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1005840" y="54132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索引文件采用 Iceberg 标准 Puffin 载体，与数据湖生态天然一体化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5733288" y="1298448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索引湖仓架构优势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5733288" y="1591056"/>
            <a:ext cx="59527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5" name="Shape 40"/>
          <p:cNvSpPr/>
          <p:nvPr/>
        </p:nvSpPr>
        <p:spPr>
          <a:xfrm>
            <a:off x="5861304" y="1673352"/>
            <a:ext cx="219456" cy="21945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5861304" y="167335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190488" y="161848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5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与计算引擎解耦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190488" y="1801368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公开接口接入，索引不依赖具体引擎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5733288" y="2011680"/>
            <a:ext cx="59527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0" name="Shape 45"/>
          <p:cNvSpPr/>
          <p:nvPr/>
        </p:nvSpPr>
        <p:spPr>
          <a:xfrm>
            <a:off x="5861304" y="2093976"/>
            <a:ext cx="219456" cy="21945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51" name="Text 46"/>
          <p:cNvSpPr/>
          <p:nvPr/>
        </p:nvSpPr>
        <p:spPr>
          <a:xfrm>
            <a:off x="5861304" y="20939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6190488" y="203911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5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多引擎共享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6190488" y="2221992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索引是湖的共享资产，不被单实例独占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5733288" y="2432304"/>
            <a:ext cx="59527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5" name="Shape 50"/>
          <p:cNvSpPr/>
          <p:nvPr/>
        </p:nvSpPr>
        <p:spPr>
          <a:xfrm>
            <a:off x="5861304" y="2514600"/>
            <a:ext cx="219456" cy="21945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56" name="Text 51"/>
          <p:cNvSpPr/>
          <p:nvPr/>
        </p:nvSpPr>
        <p:spPr>
          <a:xfrm>
            <a:off x="5861304" y="251460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2"/>
          <p:cNvSpPr/>
          <p:nvPr/>
        </p:nvSpPr>
        <p:spPr>
          <a:xfrm>
            <a:off x="6190488" y="245973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5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计算可弹性伸缩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6190488" y="2642616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构建与检索的计算可弹性伸缩：构建多 Worker 并行、查询 DOP 扩展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5733288" y="2852928"/>
            <a:ext cx="59527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0" name="Shape 55"/>
          <p:cNvSpPr/>
          <p:nvPr/>
        </p:nvSpPr>
        <p:spPr>
          <a:xfrm>
            <a:off x="5861304" y="2935224"/>
            <a:ext cx="219456" cy="21945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61" name="Text 56"/>
          <p:cNvSpPr/>
          <p:nvPr/>
        </p:nvSpPr>
        <p:spPr>
          <a:xfrm>
            <a:off x="5861304" y="29352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6190488" y="288036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5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低成本维护</a:t>
            </a:r>
            <a:endParaRPr lang="en-US" sz="1000" dirty="0"/>
          </a:p>
        </p:txBody>
      </p:sp>
      <p:sp>
        <p:nvSpPr>
          <p:cNvPr id="63" name="Text 58"/>
          <p:cNvSpPr/>
          <p:nvPr/>
        </p:nvSpPr>
        <p:spPr>
          <a:xfrm>
            <a:off x="6190488" y="3063240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不可变 segment 增量演进，冷数据廉存、热访问按需</a:t>
            </a:r>
            <a:endParaRPr lang="en-US" sz="850" dirty="0"/>
          </a:p>
        </p:txBody>
      </p:sp>
      <p:sp>
        <p:nvSpPr>
          <p:cNvPr id="64" name="Shape 59"/>
          <p:cNvSpPr/>
          <p:nvPr/>
        </p:nvSpPr>
        <p:spPr>
          <a:xfrm>
            <a:off x="5733288" y="3273552"/>
            <a:ext cx="59527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5" name="Shape 60"/>
          <p:cNvSpPr/>
          <p:nvPr/>
        </p:nvSpPr>
        <p:spPr>
          <a:xfrm>
            <a:off x="5861304" y="3355848"/>
            <a:ext cx="219456" cy="21945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66" name="Text 61"/>
          <p:cNvSpPr/>
          <p:nvPr/>
        </p:nvSpPr>
        <p:spPr>
          <a:xfrm>
            <a:off x="5861304" y="335584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6190488" y="3300984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5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生命周期独立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6190488" y="348386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索引可独立创建 / 删除 / 重建</a:t>
            </a:r>
            <a:endParaRPr lang="en-US" sz="850" dirty="0"/>
          </a:p>
        </p:txBody>
      </p:sp>
      <p:sp>
        <p:nvSpPr>
          <p:cNvPr id="69" name="Shape 64"/>
          <p:cNvSpPr/>
          <p:nvPr/>
        </p:nvSpPr>
        <p:spPr>
          <a:xfrm>
            <a:off x="5733288" y="3694176"/>
            <a:ext cx="59527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6"/>
            </a:solidFill>
            <a:prstDash val="solid"/>
          </a:ln>
          <a:effectLst>
            <a:outerShdw blurRad="76200" dist="25400" dir="5400000" algn="bl" rotWithShape="0">
              <a:srgbClr val="9DB4C2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0" name="Shape 65"/>
          <p:cNvSpPr/>
          <p:nvPr/>
        </p:nvSpPr>
        <p:spPr>
          <a:xfrm>
            <a:off x="5861304" y="3776472"/>
            <a:ext cx="219456" cy="21945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71" name="Text 66"/>
          <p:cNvSpPr/>
          <p:nvPr/>
        </p:nvSpPr>
        <p:spPr>
          <a:xfrm>
            <a:off x="5861304" y="377647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00" dirty="0"/>
          </a:p>
        </p:txBody>
      </p:sp>
      <p:sp>
        <p:nvSpPr>
          <p:cNvPr id="72" name="Text 67"/>
          <p:cNvSpPr/>
          <p:nvPr/>
        </p:nvSpPr>
        <p:spPr>
          <a:xfrm>
            <a:off x="6190488" y="372160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5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即插即加速</a:t>
            </a:r>
            <a:endParaRPr lang="en-US" sz="1000" dirty="0"/>
          </a:p>
        </p:txBody>
      </p:sp>
      <p:sp>
        <p:nvSpPr>
          <p:cNvPr id="73" name="Text 68"/>
          <p:cNvSpPr/>
          <p:nvPr/>
        </p:nvSpPr>
        <p:spPr>
          <a:xfrm>
            <a:off x="6190488" y="3904488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按需赋能查询，无损统一治理</a:t>
            </a:r>
            <a:r>
              <a:rPr lang="zh-CN" alt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Iceberg</a:t>
            </a:r>
            <a:r>
              <a:rPr lang="zh-CN" altLang="en-US" sz="85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生态内灵活演进</a:t>
            </a:r>
            <a:endParaRPr lang="zh-CN" altLang="en-US" sz="850" dirty="0">
              <a:solidFill>
                <a:srgbClr val="5E6E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4" name="Text 69"/>
          <p:cNvSpPr/>
          <p:nvPr/>
        </p:nvSpPr>
        <p:spPr>
          <a:xfrm>
            <a:off x="5733288" y="4151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已实现索引能力</a:t>
            </a:r>
            <a:endParaRPr lang="en-US" sz="1250" dirty="0"/>
          </a:p>
        </p:txBody>
      </p:sp>
      <p:sp>
        <p:nvSpPr>
          <p:cNvPr id="75" name="Shape 70"/>
          <p:cNvSpPr/>
          <p:nvPr/>
        </p:nvSpPr>
        <p:spPr>
          <a:xfrm>
            <a:off x="5769864" y="4489704"/>
            <a:ext cx="82296" cy="8229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76" name="Text 71"/>
          <p:cNvSpPr/>
          <p:nvPr/>
        </p:nvSpPr>
        <p:spPr>
          <a:xfrm>
            <a:off x="5952744" y="444398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向标查询</a:t>
            </a:r>
            <a:endParaRPr lang="en-US" sz="850" dirty="0"/>
          </a:p>
        </p:txBody>
      </p:sp>
      <p:sp>
        <p:nvSpPr>
          <p:cNvPr id="77" name="Text 72"/>
          <p:cNvSpPr/>
          <p:nvPr/>
        </p:nvSpPr>
        <p:spPr>
          <a:xfrm>
            <a:off x="7178040" y="4443984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 BTree / IVF-PQ / IVF-Flat 索引，及其混合查询</a:t>
            </a:r>
            <a:endParaRPr lang="en-US" sz="850" dirty="0"/>
          </a:p>
        </p:txBody>
      </p:sp>
      <p:sp>
        <p:nvSpPr>
          <p:cNvPr id="78" name="Shape 73"/>
          <p:cNvSpPr/>
          <p:nvPr/>
        </p:nvSpPr>
        <p:spPr>
          <a:xfrm>
            <a:off x="5769864" y="4690872"/>
            <a:ext cx="82296" cy="8229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79" name="Text 74"/>
          <p:cNvSpPr/>
          <p:nvPr/>
        </p:nvSpPr>
        <p:spPr>
          <a:xfrm>
            <a:off x="5952744" y="4645152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索引分区</a:t>
            </a:r>
            <a:endParaRPr lang="en-US" sz="850" dirty="0"/>
          </a:p>
        </p:txBody>
      </p:sp>
      <p:sp>
        <p:nvSpPr>
          <p:cNvPr id="80" name="Text 75"/>
          <p:cNvSpPr/>
          <p:nvPr/>
        </p:nvSpPr>
        <p:spPr>
          <a:xfrm>
            <a:off x="7178040" y="4645152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按分区组织索引段，快照对齐与覆盖追踪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5769864" y="4892040"/>
            <a:ext cx="82296" cy="8229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82" name="Text 77"/>
          <p:cNvSpPr/>
          <p:nvPr/>
        </p:nvSpPr>
        <p:spPr>
          <a:xfrm>
            <a:off x="5952744" y="484632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插件式接入</a:t>
            </a:r>
            <a:endParaRPr lang="en-US" sz="850" dirty="0"/>
          </a:p>
        </p:txBody>
      </p:sp>
      <p:sp>
        <p:nvSpPr>
          <p:cNvPr id="83" name="Text 78"/>
          <p:cNvSpPr/>
          <p:nvPr/>
        </p:nvSpPr>
        <p:spPr>
          <a:xfrm>
            <a:off x="7178040" y="4846320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统一插件 SPI，索引算法可注册扩展</a:t>
            </a:r>
            <a:endParaRPr lang="en-US" sz="850" dirty="0"/>
          </a:p>
        </p:txBody>
      </p:sp>
      <p:sp>
        <p:nvSpPr>
          <p:cNvPr id="84" name="Shape 79"/>
          <p:cNvSpPr/>
          <p:nvPr/>
        </p:nvSpPr>
        <p:spPr>
          <a:xfrm>
            <a:off x="5769864" y="5093208"/>
            <a:ext cx="82296" cy="8229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85" name="Text 80"/>
          <p:cNvSpPr/>
          <p:nvPr/>
        </p:nvSpPr>
        <p:spPr>
          <a:xfrm>
            <a:off x="5952744" y="504748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增量构建</a:t>
            </a:r>
            <a:endParaRPr lang="en-US" sz="850" dirty="0"/>
          </a:p>
        </p:txBody>
      </p:sp>
      <p:sp>
        <p:nvSpPr>
          <p:cNvPr id="86" name="Text 81"/>
          <p:cNvSpPr/>
          <p:nvPr/>
        </p:nvSpPr>
        <p:spPr>
          <a:xfrm>
            <a:off x="7178040" y="5047488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仅构建新增文件、覆盖复用；支持全量 / 并行构建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5769864" y="5294376"/>
            <a:ext cx="82296" cy="8229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88" name="Text 83"/>
          <p:cNvSpPr/>
          <p:nvPr/>
        </p:nvSpPr>
        <p:spPr>
          <a:xfrm>
            <a:off x="5952744" y="524865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索引管理</a:t>
            </a:r>
            <a:endParaRPr lang="en-US" sz="850" dirty="0"/>
          </a:p>
        </p:txBody>
      </p:sp>
      <p:sp>
        <p:nvSpPr>
          <p:cNvPr id="89" name="Text 84"/>
          <p:cNvSpPr/>
          <p:nvPr/>
        </p:nvSpPr>
        <p:spPr>
          <a:xfrm>
            <a:off x="7178040" y="5248656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create / drop / abort / progress / vacuum；异步 + 同步，状态机可恢复</a:t>
            </a:r>
            <a:endParaRPr lang="en-US" sz="850" dirty="0"/>
          </a:p>
        </p:txBody>
      </p:sp>
      <p:sp>
        <p:nvSpPr>
          <p:cNvPr id="90" name="Shape 85"/>
          <p:cNvSpPr/>
          <p:nvPr/>
        </p:nvSpPr>
        <p:spPr>
          <a:xfrm>
            <a:off x="5769864" y="5495544"/>
            <a:ext cx="82296" cy="82296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sp>
        <p:nvSpPr>
          <p:cNvPr id="91" name="Text 86"/>
          <p:cNvSpPr/>
          <p:nvPr/>
        </p:nvSpPr>
        <p:spPr>
          <a:xfrm>
            <a:off x="5952744" y="544982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可观测性</a:t>
            </a:r>
            <a:endParaRPr lang="en-US" sz="850" dirty="0"/>
          </a:p>
        </p:txBody>
      </p:sp>
      <p:sp>
        <p:nvSpPr>
          <p:cNvPr id="92" name="Text 87"/>
          <p:cNvSpPr/>
          <p:nvPr/>
        </p:nvSpPr>
        <p:spPr>
          <a:xfrm>
            <a:off x="7178040" y="5449824"/>
            <a:ext cx="4526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构建检索全链路追踪，Trace 导出与统计接口</a:t>
            </a:r>
            <a:endParaRPr lang="en-US" sz="850" dirty="0"/>
          </a:p>
        </p:txBody>
      </p:sp>
      <p:sp>
        <p:nvSpPr>
          <p:cNvPr id="93" name="Shape 88"/>
          <p:cNvSpPr/>
          <p:nvPr/>
        </p:nvSpPr>
        <p:spPr>
          <a:xfrm>
            <a:off x="411480" y="5888736"/>
            <a:ext cx="11384280" cy="566928"/>
          </a:xfrm>
          <a:prstGeom prst="rect">
            <a:avLst/>
          </a:prstGeom>
          <a:solidFill>
            <a:srgbClr val="065A82"/>
          </a:solidFill>
        </p:spPr>
        <p:txBody>
          <a:bodyPr/>
          <a:p/>
        </p:txBody>
      </p:sp>
      <p:sp>
        <p:nvSpPr>
          <p:cNvPr id="94" name="Text 89"/>
          <p:cNvSpPr/>
          <p:nvPr/>
        </p:nvSpPr>
        <p:spPr>
          <a:xfrm>
            <a:off x="566928" y="604418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F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SIFT1M 基准（1M×128d）</a:t>
            </a:r>
            <a:endParaRPr lang="en-US" sz="900" dirty="0"/>
          </a:p>
        </p:txBody>
      </p:sp>
      <p:sp>
        <p:nvSpPr>
          <p:cNvPr id="95" name="Text 90"/>
          <p:cNvSpPr/>
          <p:nvPr/>
        </p:nvSpPr>
        <p:spPr>
          <a:xfrm>
            <a:off x="2880360" y="59344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71.6 s</a:t>
            </a:r>
            <a:endParaRPr lang="en-US" sz="1600" dirty="0"/>
          </a:p>
        </p:txBody>
      </p:sp>
      <p:sp>
        <p:nvSpPr>
          <p:cNvPr id="96" name="Text 91"/>
          <p:cNvSpPr/>
          <p:nvPr/>
        </p:nvSpPr>
        <p:spPr>
          <a:xfrm>
            <a:off x="2880360" y="622706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F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建索引（8 Worker 并行）</a:t>
            </a:r>
            <a:endParaRPr lang="en-US" sz="800" dirty="0"/>
          </a:p>
        </p:txBody>
      </p:sp>
      <p:sp>
        <p:nvSpPr>
          <p:cNvPr id="97" name="Text 92"/>
          <p:cNvSpPr/>
          <p:nvPr/>
        </p:nvSpPr>
        <p:spPr>
          <a:xfrm>
            <a:off x="5715000" y="59344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45 ms</a:t>
            </a:r>
            <a:endParaRPr lang="en-US" sz="1600" dirty="0"/>
          </a:p>
        </p:txBody>
      </p:sp>
      <p:sp>
        <p:nvSpPr>
          <p:cNvPr id="98" name="Text 93"/>
          <p:cNvSpPr/>
          <p:nvPr/>
        </p:nvSpPr>
        <p:spPr>
          <a:xfrm>
            <a:off x="5715000" y="622706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F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单查询（warm）</a:t>
            </a:r>
            <a:endParaRPr lang="en-US" sz="800" dirty="0"/>
          </a:p>
        </p:txBody>
      </p:sp>
      <p:sp>
        <p:nvSpPr>
          <p:cNvPr id="99" name="Text 94"/>
          <p:cNvSpPr/>
          <p:nvPr/>
        </p:nvSpPr>
        <p:spPr>
          <a:xfrm>
            <a:off x="8686800" y="59344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recall@10 = 0.96</a:t>
            </a:r>
            <a:endParaRPr lang="en-US" sz="1600" dirty="0"/>
          </a:p>
        </p:txBody>
      </p:sp>
      <p:sp>
        <p:nvSpPr>
          <p:cNvPr id="100" name="Text 95"/>
          <p:cNvSpPr/>
          <p:nvPr/>
        </p:nvSpPr>
        <p:spPr>
          <a:xfrm>
            <a:off x="8686800" y="622706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F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与暴力 L2 逐条一致</a:t>
            </a:r>
            <a:endParaRPr lang="en-US" sz="800" dirty="0"/>
          </a:p>
        </p:txBody>
      </p:sp>
      <p:sp>
        <p:nvSpPr>
          <p:cNvPr id="101" name="Shape 96"/>
          <p:cNvSpPr/>
          <p:nvPr/>
        </p:nvSpPr>
        <p:spPr>
          <a:xfrm>
            <a:off x="5212080" y="5989320"/>
            <a:ext cx="0" cy="365760"/>
          </a:xfrm>
          <a:prstGeom prst="line">
            <a:avLst/>
          </a:prstGeom>
          <a:noFill/>
          <a:ln w="12700">
            <a:solidFill>
              <a:srgbClr val="CFE3EE"/>
            </a:solidFill>
            <a:prstDash val="solid"/>
          </a:ln>
        </p:spPr>
        <p:txBody>
          <a:bodyPr/>
          <a:p/>
        </p:txBody>
      </p:sp>
      <p:sp>
        <p:nvSpPr>
          <p:cNvPr id="102" name="Shape 97"/>
          <p:cNvSpPr/>
          <p:nvPr/>
        </p:nvSpPr>
        <p:spPr>
          <a:xfrm>
            <a:off x="8092440" y="5989320"/>
            <a:ext cx="0" cy="365760"/>
          </a:xfrm>
          <a:prstGeom prst="line">
            <a:avLst/>
          </a:prstGeom>
          <a:noFill/>
          <a:ln w="12700">
            <a:solidFill>
              <a:srgbClr val="CFE3EE"/>
            </a:solidFill>
            <a:prstDash val="solid"/>
          </a:ln>
        </p:spPr>
        <p:txBody>
          <a:bodyPr/>
          <a:p/>
        </p:txBody>
      </p:sp>
      <p:sp>
        <p:nvSpPr>
          <p:cNvPr id="103" name="Text 98"/>
          <p:cNvSpPr/>
          <p:nvPr/>
        </p:nvSpPr>
        <p:spPr>
          <a:xfrm>
            <a:off x="411480" y="6510528"/>
            <a:ext cx="11384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湖表架构试点 · 索引层 · 2026-08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14045" y="283845"/>
            <a:ext cx="1061148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架构优势：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与计算引擎解耦：公共接口接入，索引不依赖具体引擎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多引擎共享：索引是湖的共享资产，不被单实例独占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计算可弹性伸缩：构建与检索的计算可弹性伸缩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低成本维护：不可变segment增量演进，冷数据廉存、热访问按需（按需读页 + LRU 页缓存，索引不全量常驻内存）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生命周期独立：索引可独立创建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重建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即插即加速：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按需赋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能查询，无损统一治理，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Iceberg生态内灵活演进</a:t>
            </a:r>
            <a:endParaRPr lang="zh-CN" altLang="en-US" dirty="0">
              <a:solidFill>
                <a:srgbClr val="5E6E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l">
              <a:buClrTx/>
              <a:buSzTx/>
              <a:buFontTx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标准载体：索引采用 Iceberg 标准 Puffin 载体，与数据湖生态天然一体化、随表快照统一管理</a:t>
            </a:r>
            <a:endParaRPr lang="zh-CN" altLang="en-US" dirty="0">
              <a:solidFill>
                <a:srgbClr val="5E6E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索引实现能力：</a:t>
            </a:r>
            <a:endParaRPr lang="en-US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向标查询：支持</a:t>
            </a:r>
            <a:r>
              <a:rPr lang="en-US" altLang="zh-CN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BTREE/IVF-PQ/IVF-FLAT</a:t>
            </a:r>
            <a:r>
              <a:rPr lang="zh-CN" alt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索引，及其混合查询</a:t>
            </a:r>
            <a:endParaRPr lang="zh-CN" altLang="en-US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索引分区：</a:t>
            </a:r>
            <a:r>
              <a:rPr 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按分区组织索引段，快照对齐与覆盖追踪</a:t>
            </a:r>
            <a:endParaRPr lang="zh-CN" altLang="en-US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插件式接入：</a:t>
            </a:r>
            <a:r>
              <a:rPr 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统一插件 SPI，索引算法可注册扩展</a:t>
            </a:r>
            <a:endParaRPr lang="en-US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增量构建：</a:t>
            </a:r>
            <a:r>
              <a:rPr lang="en-US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仅构建新增文件、覆盖复用；支持全量 / 并行构建</a:t>
            </a:r>
            <a:endParaRPr lang="en-US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索引管理：create / drop / abort / progress / vacuum；异步 + 同步，状态机可恢复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可观测性：构建检索全链路追踪，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Trace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导出与统计接口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向量查询加速：全扫 → 索引，SIFT 11×（2358→212ms）、GIST 13×（18883→1467ms）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混合查询：1% 档 K10 11.2× / K100 13.8×，5% 档 7.2×（两阶段物化 A/B，同环境）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并行查询：DOP 1→8 加速 4.1~4.8×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召回门禁：官方 GT @10，SIFT 90.6% / GIST 78.4%（100 查询均值）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优化方法论：精确部分排序累计 -84%（召回不变）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质量：devtest 67 通过 + 1 预期失败；11 仓联编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WPS 演示</Application>
  <PresentationFormat>On-screen Show (16:9)</PresentationFormat>
  <Paragraphs>142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索引层：湖仓架构独立索引，与计算引擎解耦</dc:title>
  <dc:creator>DataInfraLab</dc:creator>
  <dc:subject>PptxGenJS Presentation</dc:subject>
  <cp:lastModifiedBy>admin</cp:lastModifiedBy>
  <cp:revision>4</cp:revision>
  <dcterms:created xsi:type="dcterms:W3CDTF">2026-09-01T06:47:00Z</dcterms:created>
  <dcterms:modified xsi:type="dcterms:W3CDTF">2026-09-01T07:26:37Z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EBED8C69F03B42D088055564F278F855_12</vt:lpwstr>
  </property>
</Properties>
</file>